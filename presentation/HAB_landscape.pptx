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orients the panel to what exists TODAY. The three barplots: who makes them (state+federal dominate; no NGO/intl), cost (9 of 12 free), and method. The bottom-right table isolates the only 4 forward-looking (forecast) tools — EPA's free 7-day product plus three paid/vendor services (two unvalidated). Most other tools only nowcast. Satellite CyAN is the only near-national signal but detects biomass (not toxin) and can't resolve small lakes — motivating a fused approach. No NGO/international operational freshwater tool surfaced in our 261-source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tool reference. Evidence basis behind each quality tier (read if challenged):</a:t>
            </a:r>
          </a:p>
          <a:p>
            <a:r>
              <a:t>- EPA CyAN / CyANWeb: [Established / operational] Operational; Cyanobacteria Index validated 84% accuracy / 87% precision / 90% recall vs combined toxin+cell ground truth [ACAD-045]; 60%/69% true-positive vs state events/advisories [ACAD-006]</a:t>
            </a:r>
          </a:p>
          <a:p>
            <a:r>
              <a:t>- EPA experimental 7-day cyanoHAB forecast: [Established / operational] Underlying model peer-reviewed &amp; tested on a fully out-of-sample year (2021): 90% accuracy, AUC 0.95, but only 49% precision (overpredicts — health-protective bias) [ACAD-050]</a:t>
            </a:r>
          </a:p>
          <a:p>
            <a:r>
              <a:t>- NOAA Lake Erie HAB Forecast + bulletin: [Operational (unbenchmarked)] Long-running operational product; no accuracy/skill figure stated anywhere in the corpus (n/r). Underlying transport models compared vs satellite bloom fields [ACAD-024]</a:t>
            </a:r>
          </a:p>
          <a:p>
            <a:r>
              <a:t>- NOAA HAB Monitoring System: [Operational (unbenchmarked)] Operational monitoring/short-term products; no skill metric in corpus</a:t>
            </a:r>
          </a:p>
          <a:p>
            <a:r>
              <a:t>- Florida DEP Algal Bloom Dashboard: [Operational (unbenchmarked)] Sampling + citizen-report dashboard; not a predictive model (no skill metric)</a:t>
            </a:r>
          </a:p>
          <a:p>
            <a:r>
              <a:t>- NY NYHABS notifications &amp; map: [Operational (unbenchmarked)] Citizen-science + agency reporting/mapping; not predictive</a:t>
            </a:r>
          </a:p>
          <a:p>
            <a:r>
              <a:t>- California SWAMP FHAB + satellite screening: [Operational (unbenchmarked)] Statewide program pairing satellite remote screening for larger waterbodies with ambient monitoring; no skill metric in corpus</a:t>
            </a:r>
          </a:p>
          <a:p>
            <a:r>
              <a:t>- Ohio HAB response (Lake Erie region): [Operational (unbenchmarked)] Mature state advisory program implementing federal cyanotoxin thresholds; satellite-imagery-supported; not predictive</a:t>
            </a:r>
          </a:p>
          <a:p>
            <a:r>
              <a:t>- Utah / Oregon recreational advisory systems: [Operational (unbenchmarked)] Toxin-confirmed tiered advisories; explicitly note only a fraction of waterbodies are monitored [SLG-008]</a:t>
            </a:r>
          </a:p>
          <a:p>
            <a:r>
              <a:t>- BlueGreen BGi Water Health Intelligence: [Vendor self-report] Commercial platform fusing satellite + in-situ + weather (5+ yr); no disclosed validation or baseline</a:t>
            </a:r>
          </a:p>
          <a:p>
            <a:r>
              <a:t>- CyanoLakes: [Vendor self-report] Commercial satellite subscription; accuracy figures are vendor self-report with no disclosed baseline</a:t>
            </a:r>
          </a:p>
          <a:p>
            <a:r>
              <a:t>- EOMAP water-quality service: [Vendor self-report] Physics-based commercial retrieval (chlorophyll/CDOM/turbidity); no disclosed HAB-specific validation in corpus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answers 'what does the frontier look like and what drives it.' The hero chart: water temperature &amp; nutrients are near-universal; water temperature is most often the #1 predictor, BUT stress this is correlational/model-internal (often a season proxy) and has real exceptions (phycocyanin in Müggelsee; geolocation in the Sentinel-2 fusion model — an explicitly non-transferable artifact). Bottom-left: frontier ML is mostly simple tree/boosting methods and in-situ-driven (Korea/China/Germany dominate); deep learning only leads in aggregate reviews. The persistence baseline (AR1≈0.90) is the number any PoC must beat — this directly frames our modeling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model table; the features column is the brief's emphasis. Reported skill per model (read if asked):</a:t>
            </a:r>
          </a:p>
          <a:p>
            <a:r>
              <a:t>- Bayesian spatiotemporal fusion (INLA), 2,192 US lakes: Out-of-sample 2021: 90% acc, AUC 0.95, 88% sens, 91% spec, but 49% precision (overpredicts). Note: source has an unresolved internal sample-count discrepancy</a:t>
            </a:r>
          </a:p>
          <a:p>
            <a:r>
              <a:t>- R-INLA spatial (SPDE) + AR1, 103 Florida lakes: AUC 0.95 holdout -&gt; 0.89 true 1-week forecast; spatial structure gave the largest fit gain; AR1 alpha=0.90 (strong persistence)</a:t>
            </a:r>
          </a:p>
          <a:p>
            <a:r>
              <a:t>- Gradient-boosting + attention CNN-LSTM ensemble: R^2 = 0.89-0.93</a:t>
            </a:r>
          </a:p>
          <a:p>
            <a:r>
              <a:t>- Explainable LSTM + SHAP, 102 sites: mean NSE 0.48 (median 0.52), beat 8 ML baselines; but 30% of sites 'poor' (NSE&lt;0.3) - highly site-dependent</a:t>
            </a:r>
          </a:p>
          <a:p>
            <a:r>
              <a:t>- Interpretable CatBoost + SHAP, Yilong Lake: AUC = 0.948 (best of 10 models compared)</a:t>
            </a:r>
          </a:p>
          <a:p>
            <a:r>
              <a:t>- Intelligible ML early-warning, Lake Müggelsee: Tree/rule models generalized; LSTM failed to generalize on daily data. NOTE: under a published Comment/rebuttal [ACAD-110]</a:t>
            </a:r>
          </a:p>
          <a:p>
            <a:r>
              <a:t>- ANN vs SVM reservoir alert-level: ANN outperformed SVM (abstract-only; no metric)</a:t>
            </a:r>
          </a:p>
          <a:p>
            <a:r>
              <a:t>- RF + boosting ensemble vs CNN/ANN: 78.7% test accuracy; beat 1D-CNN and ANN</a:t>
            </a:r>
          </a:p>
          <a:p>
            <a:r>
              <a:t>- NOAA Lake Erie 3-D transport (mechanistic): Transport formulations compared vs satellite bloom fields over multiple seasons</a:t>
            </a:r>
          </a:p>
          <a:p>
            <a:r>
              <a:t>- Coupled hydrodynamic-algal biomass, Lake Taihu: n/r (operational forecast system)</a:t>
            </a:r>
          </a:p>
          <a:p>
            <a:r>
              <a:t>- Multi-source fusion severity classifier (Sentinel-2 + DEM + climate): 6th of field (RA-RMSE 0.81 vs 0.76 winner); 62.8% exact-class, 89.5% severe-case accuracy</a:t>
            </a:r>
          </a:p>
          <a:p>
            <a:r>
              <a:t>- WASP eutrophication process model, Lake Winnipeg: calibration/validation study</a:t>
            </a:r>
          </a:p>
          <a:p>
            <a:r>
              <a:t>- Frontier synthesis: 168-study cross-review (1997-2025): Reports deep learning (esp. LSTM) strongest median (R^2 0.89, &gt;90% acc in many apps); hybrids highest accuracy; flags limited transferability across water bodies</a:t>
            </a:r>
          </a:p>
          <a:p>
            <a:r>
              <a:t>- Deep-learning surrogate of a process model (hybrid): NSE 0.644 -&gt; 0.930 vs the process model it emulates</a:t>
            </a:r>
          </a:p>
          <a:p>
            <a:r>
              <a:t>- NASA PACE hyperspectral cyanoHAB validation: R^2 0.84 vs operational CyAN benchmark; ~halved chl-a retrieval error (NRMSE 21.6% vs 38.7%)</a:t>
            </a:r>
          </a:p>
          <a:p/>
          <a:p>
            <a:r>
              <a:t>Flag M11's longitude top-feature as a non-transferable proxy, and M1's 49%-precision / sample-count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slide. Use if the panel asks 'how do you know' or 'what does cutting-edge mean here'. The tier rubric makes the subjective 'quality' call defensible; the feature-importance caveat pre-empts a correlation-vs-causation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74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CFDDEC"/>
                </a:solidFill>
                <a:latin typeface="Calibri"/>
              </a:rPr>
              <a:t>SLIDE 1 · WHAT'S AVAILABLE TODAY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HAB monitoring &amp; forecasting tools you can use now</a:t>
            </a:r>
          </a:p>
        </p:txBody>
      </p:sp>
      <p:pic>
        <p:nvPicPr>
          <p:cNvPr id="4" name="Picture 3" descr="fig1_tool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59" y="1115568"/>
            <a:ext cx="3805881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26280" y="1234440"/>
            <a:ext cx="74523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74C77"/>
                </a:solidFill>
                <a:latin typeface="Calibri"/>
              </a:rPr>
              <a:t>What to take away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•  12 freshwater tools surveyed — 9 are free &amp; public; all are US federal + state programs + a few private services. No NGO or international operational freshwater tools exist.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•  Only 4 of the 12 forecast ahead (red outline) — every forecaster is federal (EPA, NOAA) or private; all state / local tools are nowcast / observation only.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•  The forecasters split by cost: EPA's 7-day forecast is free; the private forecasters (BlueGreen, CyanoLakes) are paid and publish no validation.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•  Satellite (EPA CyAN) is the only near-national signal — but it sees biomass, not toxin, and can't resolve small lakes or shoreline scums.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•  Methods span satellite indices, in-situ monitoring, a physics model and ML. 'Data fusion' (satellite + in-situ + weather, used by EPA, NOAA &amp; BlueGreen) is a data strategy run by one of these methods — not a method of its 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4407408"/>
            <a:ext cx="7452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274C77"/>
                </a:solidFill>
                <a:latin typeface="Calibri"/>
              </a:rPr>
              <a:t>The 4 forward-looking (forecast) tools — details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26280" y="4736592"/>
          <a:ext cx="7452358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4169"/>
                <a:gridCol w="1189206"/>
                <a:gridCol w="1347767"/>
                <a:gridCol w="2061291"/>
                <a:gridCol w="1109925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Refresh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Spatial res.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EPA 7-day forecast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Statistical/ML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Weekly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USA (2,000+ lakes)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300 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NOAA Lake Erie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Physics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2x/wk (season)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USA (Lake Erie)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300 m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BlueGreen BGi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Statistical/ML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CyanoLakes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Satellite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10-300 m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473952"/>
            <a:ext cx="1136873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0" i="1">
                <a:solidFill>
                  <a:srgbClr val="555F6B"/>
                </a:solidFill>
                <a:latin typeface="Calibri"/>
              </a:rPr>
              <a:t>Freshwater cyanobacteria only. Every tool traces to a cited source (appendix + Research/REFERENCES.md). Raw counts, small N — orientation, not statistics.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CFDDEC"/>
                </a:solidFill>
                <a:latin typeface="Calibri"/>
              </a:rPr>
              <a:t>SLIDE 1 · APPENDIX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Full tool inventory — all dimensions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188720"/>
          <a:ext cx="11750035" cy="5230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8121"/>
                <a:gridCol w="791248"/>
                <a:gridCol w="909935"/>
                <a:gridCol w="1345122"/>
                <a:gridCol w="1345122"/>
                <a:gridCol w="1661621"/>
                <a:gridCol w="751686"/>
                <a:gridCol w="672561"/>
                <a:gridCol w="1463809"/>
                <a:gridCol w="83081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Org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Horizon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Refresh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Spatial res.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Access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Quality tier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Src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EPA CyAN / CyANWeb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Federal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Satellite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Nowcast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daily + 7-day max-value…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~300 m (Sentinel-3 OLCI); resolves…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 marL="45720" marR="45720" marT="18288" marB="18288" anchor="ctr">
                    <a:solidFill>
                      <a:srgbClr val="4C956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2015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Established / operational</a:t>
                      </a:r>
                    </a:p>
                  </a:txBody>
                  <a:tcPr marL="45720" marR="45720" marT="18288" marB="18288" anchor="ctr">
                    <a:solidFill>
                      <a:srgbClr val="4C956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FED-008, FED-009…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EPA 7-day forecast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Federal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Statistical/ML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Forecast 7‑day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weekly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~300 m; 2,000+ lakes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 marL="45720" marR="45720" marT="18288" marB="18288" anchor="ctr">
                    <a:solidFill>
                      <a:srgbClr val="4C956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2024 (beta)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Established / operational</a:t>
                      </a:r>
                    </a:p>
                  </a:txBody>
                  <a:tcPr marL="45720" marR="45720" marT="18288" marB="18288" anchor="ctr">
                    <a:solidFill>
                      <a:srgbClr val="4C956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FED-060, FED-012…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NOAA Lake Erie HAB Forecast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Federal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Physics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Nowcast + forecast 96‑hr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twice-weekly bulletins (bloom…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hydrodynamic model grid + satellite…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 marL="45720" marR="45720" marT="18288" marB="18288" anchor="ctr">
                    <a:solidFill>
                      <a:srgbClr val="4C956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~2008 (3-D sub-surface model added 2020)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Operational (unbenchmarked)</a:t>
                      </a:r>
                    </a:p>
                  </a:txBody>
                  <a:tcPr marL="45720" marR="45720" marT="18288" marB="18288" anchor="ctr">
                    <a:solidFill>
                      <a:srgbClr val="3B6E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FED-024, FED-025…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NOAA HAB Monitoring System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Federal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Satellite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Nowcast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 marL="45720" marR="45720" marT="18288" marB="18288" anchor="ctr">
                    <a:solidFill>
                      <a:srgbClr val="4C956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Operational (unbenchmarked)</a:t>
                      </a:r>
                    </a:p>
                  </a:txBody>
                  <a:tcPr marL="45720" marR="45720" marT="18288" marB="18288" anchor="ctr">
                    <a:solidFill>
                      <a:srgbClr val="3B6E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FED-061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Florida DEP Algal Bloom Dashboard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State/local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In-situ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Nowcast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~weekly / as-sampled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point / sampling-site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 marL="45720" marR="45720" marT="18288" marB="18288" anchor="ctr">
                    <a:solidFill>
                      <a:srgbClr val="4C956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Operational (unbenchmarked)</a:t>
                      </a:r>
                    </a:p>
                  </a:txBody>
                  <a:tcPr marL="45720" marR="45720" marT="18288" marB="18288" anchor="ctr">
                    <a:solidFill>
                      <a:srgbClr val="3B6E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SLG-001, SLG-007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NY NYHABS notifications &amp; map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State/local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In-situ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Nowcast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as-reported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point / sampling-site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 marL="45720" marR="45720" marT="18288" marB="18288" anchor="ctr">
                    <a:solidFill>
                      <a:srgbClr val="4C956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Operational (unbenchmarked)</a:t>
                      </a:r>
                    </a:p>
                  </a:txBody>
                  <a:tcPr marL="45720" marR="45720" marT="18288" marB="18288" anchor="ctr">
                    <a:solidFill>
                      <a:srgbClr val="3B6E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SLG-003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California SWAMP FHAB + satellite screening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State/local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Satellite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Nowcast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satellite screening + point sampling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 marL="45720" marR="45720" marT="18288" marB="18288" anchor="ctr">
                    <a:solidFill>
                      <a:srgbClr val="4C956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~2014 (program)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Operational (unbenchmarked)</a:t>
                      </a:r>
                    </a:p>
                  </a:txBody>
                  <a:tcPr marL="45720" marR="45720" marT="18288" marB="18288" anchor="ctr">
                    <a:solidFill>
                      <a:srgbClr val="3B6E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SLG-012, SLG-006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Ohio HAB response (Lake Erie region)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State/local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In-situ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Nowcast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as-sampled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point / public-water-system intake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 marL="45720" marR="45720" marT="18288" marB="18288" anchor="ctr">
                    <a:solidFill>
                      <a:srgbClr val="4C956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Operational (unbenchmarked)</a:t>
                      </a:r>
                    </a:p>
                  </a:txBody>
                  <a:tcPr marL="45720" marR="45720" marT="18288" marB="18288" anchor="ctr">
                    <a:solidFill>
                      <a:srgbClr val="3B6E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SLG-004, SLG-005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Utah / Oregon recreational advisory systems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State/local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In-situ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Nowcast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as-sampled (seasonal)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point / waterbody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 marL="45720" marR="45720" marT="18288" marB="18288" anchor="ctr">
                    <a:solidFill>
                      <a:srgbClr val="4C956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Operational (unbenchmarked)</a:t>
                      </a:r>
                    </a:p>
                  </a:txBody>
                  <a:tcPr marL="45720" marR="45720" marT="18288" marB="18288" anchor="ctr">
                    <a:solidFill>
                      <a:srgbClr val="3B6E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SLG-002, SLG-008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BlueGreen BGi Water Health Intelligence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Private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Statistical/ML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Paid</a:t>
                      </a:r>
                    </a:p>
                  </a:txBody>
                  <a:tcPr marL="45720" marR="45720" marT="18288" marB="18288" anchor="ctr">
                    <a:solidFill>
                      <a:srgbClr val="E07B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Vendor self-report</a:t>
                      </a:r>
                    </a:p>
                  </a:txBody>
                  <a:tcPr marL="45720" marR="45720" marT="18288" marB="18288" anchor="ctr">
                    <a:solidFill>
                      <a:srgbClr val="E07B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PVT-001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CyanoLakes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Private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Satellite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Nowcast + forecast 3week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~300 m / 10 m (Sentinel)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Freemium</a:t>
                      </a:r>
                    </a:p>
                  </a:txBody>
                  <a:tcPr marL="45720" marR="45720" marT="18288" marB="18288" anchor="ctr">
                    <a:solidFill>
                      <a:srgbClr val="E07B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n/r (~2014)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Vendor self-report</a:t>
                      </a:r>
                    </a:p>
                  </a:txBody>
                  <a:tcPr marL="45720" marR="45720" marT="18288" marB="18288" anchor="ctr">
                    <a:solidFill>
                      <a:srgbClr val="E07B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PVT-003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EOMAP water-quality service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Private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Satellite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Nowcast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~10 m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Paid</a:t>
                      </a:r>
                    </a:p>
                  </a:txBody>
                  <a:tcPr marL="45720" marR="45720" marT="18288" marB="18288" anchor="ctr">
                    <a:solidFill>
                      <a:srgbClr val="E07B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FFFFFF"/>
                          </a:solidFill>
                          <a:latin typeface="Calibri"/>
                        </a:rPr>
                        <a:t>Vendor self-report</a:t>
                      </a:r>
                    </a:p>
                  </a:txBody>
                  <a:tcPr marL="45720" marR="45720" marT="18288" marB="18288" anchor="ctr">
                    <a:solidFill>
                      <a:srgbClr val="E07B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PVT-008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473952"/>
            <a:ext cx="1136873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0" i="1">
                <a:solidFill>
                  <a:srgbClr val="555F6B"/>
                </a:solidFill>
                <a:latin typeface="Calibri"/>
              </a:rPr>
              <a:t>Quality tiers are evidence-anchored — the cited evidence basis for each is in presentation/data/tools.json &amp; the source dossiers; rubric on final slide. 'n/r' = not reported. Src → Research/REFERENCES.md.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74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CFDDEC"/>
                </a:solidFill>
                <a:latin typeface="Calibri"/>
              </a:rPr>
              <a:t>SLIDE 2 · THE RESEARCH FRONTIER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Cutting-edge HAB models — and what actually drives them</a:t>
            </a:r>
          </a:p>
        </p:txBody>
      </p:sp>
      <p:pic>
        <p:nvPicPr>
          <p:cNvPr id="4" name="Picture 3" descr="fig2_feature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40180"/>
            <a:ext cx="7543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88720"/>
            <a:ext cx="41605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74C77"/>
                </a:solidFill>
                <a:latin typeface="Calibri"/>
              </a:rPr>
              <a:t>What to take away</a:t>
            </a:r>
          </a:p>
          <a:p>
            <a:pPr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Water temperature &amp; nutrients are the near-universal inputs; water temperature is most often the #1 predictor — but that's a correlational, model-internal signal (often a seasonal proxy), not a proven cause.</a:t>
            </a:r>
          </a:p>
          <a:p>
            <a:pPr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Exceptions matter: some models rank phycocyanin or nutrients first, and one fusion model's top 'feature' was geolocation — a non-transferable artifact.</a:t>
            </a:r>
          </a:p>
          <a:p>
            <a:pPr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Most of the 14 frontier models are simple &amp; explainable (tree/boosting) and in-situ-driven; deep learning leads only in aggregate reviews.</a:t>
            </a:r>
          </a:p>
          <a:p>
            <a:pPr>
              <a:spcAft>
                <a:spcPts val="5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Persistence is a stiff baseline (week-to-week autocorrelation ≈0.90) — a real tool must beat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5029200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555F6B"/>
                </a:solidFill>
                <a:latin typeface="Calibri"/>
              </a:rPr>
              <a:t>Flagship models &amp; their #1 predictor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863840" y="5303520"/>
          <a:ext cx="4160519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5943"/>
                <a:gridCol w="1414576"/>
              </a:tblGrid>
              <a:tr h="18288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Top predictor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Bayesian spatiotemporal…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satellite reflec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Gradient-boosting +…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water temperatur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Intelligible ML…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phycocyanin sign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NOAA Lake Erie 3-D…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wind mixing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Multi-source fusion…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22222"/>
                          </a:solidFill>
                          <a:latin typeface="Calibri"/>
                        </a:rPr>
                        <a:t>geolocation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473952"/>
            <a:ext cx="1136873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0" i="1">
                <a:solidFill>
                  <a:srgbClr val="555F6B"/>
                </a:solidFill>
                <a:latin typeface="Calibri"/>
              </a:rPr>
              <a:t>Feature 'importance' = how often a feature is a model's top-ranked predictor (correlational, not causal). 10 of the 14 models report a feature list; the 168-study review (ACAD-068) is context, not counted as a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CFDDEC"/>
                </a:solidFill>
                <a:latin typeface="Calibri"/>
              </a:rPr>
              <a:t>SLIDE 2 · APPENDIX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Full model inventory (14 models + 1 review) — features emphasised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170432"/>
          <a:ext cx="11841475" cy="4974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7023"/>
                <a:gridCol w="747468"/>
                <a:gridCol w="1691640"/>
                <a:gridCol w="1337575"/>
                <a:gridCol w="747468"/>
                <a:gridCol w="904830"/>
                <a:gridCol w="3698003"/>
                <a:gridCol w="747468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Org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Forecasts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Features used  (→ TOP predictor in bold text)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Src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Bayesian spatiotemporal…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Fed/Acad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Bayesian hierarchical…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bloom occurrence…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Fusion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satellite reflectance, water temperature, precipitation, lake morphology  → TOP: satellite…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ACAD-050, FED-017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R-INLA spatial (SPDE) + AR1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Bayesian spatiotemporal…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microcystin…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Fusion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satellite reflectance, prior bloom state  → TOP: prior bloom state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ACAD-092, ACAD-093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Gradient-boosting + attention…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XGBoost/LightGBM/CatBoost +…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cyanobacteria cell…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In-situ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water temperature, pH, dissolved oxygen, nutrients, precipitation  → TOP: water temperature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ACAD-043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Explainable LSTM + SHAP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LSTM (deep learning) + SHAP…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chlorophyll / bloom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In-situ+wx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water temperature, nutrients, precipitation  → TOP: water temperature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ACAD-048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Interpretable CatBoost + SHAP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CatBoost (gradient boosting) +…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bloom likelihood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In-situ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nutrients, water temperature  → TOP: nutrients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ACAD-060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Intelligible ML early-warning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XGBoost + evolutionary…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bloom occurrence…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In-situ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phycocyanin (in-situ), water temperature, nutrients  → TOP: phycocyanin (in-situ)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ACAD-037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ANN vs SVM reservoir…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Artificial neural network /…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algae alert level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In-situ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ACAD-001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RF + boosting ensemble vs…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Random forest + boosting…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alert level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In-situ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ACAD-117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NOAA Lake Erie 3-D transport…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Fed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3-D Lagrangian / Eulerian /…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Microcystis bloom…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Fusion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satellite reflectance, wind mixing, hydrology flow  → TOP: wind mixing, hydrology flow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ACAD-024, ACAD-051…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Coupled hydrodynamic-algal…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Coupled…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bloom biomass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In-situ+phys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nutrients, hydrology flow, wind mixing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ACAD-052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Multi-source fusion severity…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Random forest + LightGBM +…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bloom severity class…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nowcast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Fusion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satellite reflectance, geolocation, water temperature, precipitation, wind mixing, lake…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ACAD-008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WASP eutrophication process…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WASP mechanistic eutrophication…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phytoplankton biomass…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simulation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In-situ+loads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nutrients, hydrology flow  → TOP: nutrients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ACAD-108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Frontier synthesis: 168-study…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review (all model families)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n/a (survey)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ACAD-068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Deep-learning surrogate of a…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modular deep-learning surrogate…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process-model…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Hybrid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ACAD-104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NASA PACE hyperspectral…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Fed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hyperspectral retrieval (Ocean…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cyanobacteria cell…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nowcast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Satellite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satellite reflectance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22222"/>
                          </a:solidFill>
                          <a:latin typeface="Calibri"/>
                        </a:rPr>
                        <a:t>ACAD-106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fig3_models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320" y="4114800"/>
            <a:ext cx="780288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73952"/>
            <a:ext cx="1136873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0" i="1">
                <a:solidFill>
                  <a:srgbClr val="555F6B"/>
                </a:solidFill>
                <a:latin typeface="Calibri"/>
              </a:rPr>
              <a:t>The 168-study REVIEW (mode='review') is context, not counted among the 14 models. Feature importance is correlational / model-internal (not causal). 'n/r' = not reported. Skill metrics in each dossier &amp; data/models.json. Src → Research/REFERENCES.md.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CFDDEC"/>
                </a:solidFill>
                <a:latin typeface="Calibri"/>
              </a:rPr>
              <a:t>HOW TO READ THESE SLIDES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Method, quality rubric &amp;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34440"/>
            <a:ext cx="55778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74C77"/>
                </a:solidFill>
                <a:latin typeface="Calibri"/>
              </a:rPr>
              <a:t>Where this comes from</a:t>
            </a:r>
          </a:p>
          <a:p>
            <a:pPr>
              <a:spcAft>
                <a:spcPts val="7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•  Built entirely from a 261-source public-literature review (peer-reviewed, federal, state, NGO/WHO, private).</a:t>
            </a:r>
          </a:p>
          <a:p>
            <a:pPr>
              <a:spcAft>
                <a:spcPts val="7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•  Every tool/model attribute traces to a citation key that resolves in Research/REFERENCES.md; unknowns are marked 'n/r', never guessed.</a:t>
            </a:r>
          </a:p>
          <a:p>
            <a:pPr>
              <a:spcAft>
                <a:spcPts val="7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•  Freshwater cyanobacteria scope; marine systems excluded (a few tools' marine parents are footnoted).</a:t>
            </a:r>
          </a:p>
          <a:p>
            <a:pPr>
              <a:spcAft>
                <a:spcPts val="7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•  Counts are raw (small N) — orientation, not statistics.</a:t>
            </a:r>
          </a:p>
          <a:p>
            <a:r>
              <a:rPr sz="600" b="0" i="0">
                <a:solidFill>
                  <a:srgbClr val="222222"/>
                </a:solidFill>
                <a:latin typeface="Calibri"/>
              </a:rPr>
              <a:t/>
            </a:r>
          </a:p>
          <a:p>
            <a:r>
              <a:rPr sz="1300" b="1" i="0">
                <a:solidFill>
                  <a:srgbClr val="274C77"/>
                </a:solidFill>
                <a:latin typeface="Calibri"/>
              </a:rPr>
              <a:t>Feature 'importance' caveat</a:t>
            </a:r>
          </a:p>
          <a:p>
            <a:r>
              <a:rPr sz="1100" b="0" i="0">
                <a:solidFill>
                  <a:srgbClr val="222222"/>
                </a:solidFill>
                <a:latin typeface="Calibri"/>
              </a:rPr>
              <a:t>‘Most important’ = most often a model's top-ranked predictor. This is a correlational, model-internal signal (often a seasonal proxy) — NOT a demonstrated cause. Rankings differ across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234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74C77"/>
                </a:solidFill>
                <a:latin typeface="Calibri"/>
              </a:rPr>
              <a:t>Evidence-anchored quality tiers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63640" y="1691640"/>
          <a:ext cx="5623559" cy="342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5979"/>
                <a:gridCol w="3687580"/>
              </a:tblGrid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FFFFFF"/>
                          </a:solidFill>
                          <a:latin typeface="Calibri"/>
                        </a:rPr>
                        <a:t>Established / operational</a:t>
                      </a:r>
                    </a:p>
                  </a:txBody>
                  <a:tcPr marL="45720" marR="45720" marT="18288" marB="18288" anchor="ctr">
                    <a:solidFill>
                      <a:srgbClr val="4C956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Public product with peer-reviewed AND out-of-sample validation + baseline (e.g. CyAN, EPA 7-day)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FFFFFF"/>
                          </a:solidFill>
                          <a:latin typeface="Calibri"/>
                        </a:rPr>
                        <a:t>Operational (unbenchmarked)</a:t>
                      </a:r>
                    </a:p>
                  </a:txBody>
                  <a:tcPr marL="45720" marR="45720" marT="18288" marB="18288" anchor="ctr">
                    <a:solidFill>
                      <a:srgbClr val="3B6E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Deployed/public but no skill metric stated in the sources (e.g. NOAA Erie, state dashboards)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FFFFFF"/>
                          </a:solidFill>
                          <a:latin typeface="Calibri"/>
                        </a:rPr>
                        <a:t>Vendor self-report</a:t>
                      </a:r>
                    </a:p>
                  </a:txBody>
                  <a:tcPr marL="45720" marR="45720" marT="18288" marB="18288" anchor="ctr">
                    <a:solidFill>
                      <a:srgbClr val="E07B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Commercial; validation claimed but no disclosed baseline/peer review (BlueGreen, CyanoLakes, EOMAP)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FFFFFF"/>
                          </a:solidFill>
                          <a:latin typeface="Calibri"/>
                        </a:rPr>
                        <a:t>Research-grade</a:t>
                      </a:r>
                    </a:p>
                  </a:txBody>
                  <a:tcPr marL="45720" marR="45720" marT="18288" marB="18288" anchor="ctr">
                    <a:solidFill>
                      <a:srgbClr val="274C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Peer-reviewed model with reported skill; not an operational public product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63640" y="4754880"/>
            <a:ext cx="5623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74C77"/>
                </a:solidFill>
                <a:latin typeface="Calibri"/>
              </a:rPr>
              <a:t>Reproducible</a:t>
            </a:r>
          </a:p>
          <a:p>
            <a:r>
              <a:rPr sz="1100" b="0" i="0">
                <a:solidFill>
                  <a:srgbClr val="222222"/>
                </a:solidFill>
                <a:latin typeface="Calibri"/>
              </a:rPr>
              <a:t>Figures &amp; tables regenerate from presentation/data/*.json via build_figures.py + build_deck.py. Data JSON carries the source keys for every cell.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136873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0" i="1">
                <a:solidFill>
                  <a:srgbClr val="555F6B"/>
                </a:solidFill>
                <a:latin typeface="Calibri"/>
              </a:rPr>
              <a:t>SePRO Lead Data Scientist case study · HAB landscape orientation · generated 2026-07-01 · freshwater cyanobacteria scope.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